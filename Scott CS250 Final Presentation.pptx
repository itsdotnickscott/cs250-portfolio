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Urbanist Medium"/>
      <p:regular r:id="rId13"/>
      <p:bold r:id="rId14"/>
      <p:italic r:id="rId15"/>
      <p:boldItalic r:id="rId16"/>
    </p:embeddedFont>
    <p:embeddedFont>
      <p:font typeface="Urbanist SemiBold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Italic.fntdata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rbanistMedium-regular.fntdata"/><Relationship Id="rId12" Type="http://schemas.openxmlformats.org/officeDocument/2006/relationships/slide" Target="slides/slide7.xml"/><Relationship Id="rId15" Type="http://schemas.openxmlformats.org/officeDocument/2006/relationships/font" Target="fonts/UrbanistMedium-italic.fntdata"/><Relationship Id="rId14" Type="http://schemas.openxmlformats.org/officeDocument/2006/relationships/font" Target="fonts/UrbanistMedium-bold.fntdata"/><Relationship Id="rId17" Type="http://schemas.openxmlformats.org/officeDocument/2006/relationships/font" Target="fonts/UrbanistSemiBold-regular.fntdata"/><Relationship Id="rId16" Type="http://schemas.openxmlformats.org/officeDocument/2006/relationships/font" Target="fonts/UrbanistMedium-boldItalic.fntdata"/><Relationship Id="rId19" Type="http://schemas.openxmlformats.org/officeDocument/2006/relationships/font" Target="fonts/UrbanistSemiBold-italic.fntdata"/><Relationship Id="rId18" Type="http://schemas.openxmlformats.org/officeDocument/2006/relationships/font" Target="fonts/Urbanis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21729f3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21729f3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21729f39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f21729f39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21729f398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f21729f398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21729f398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f21729f398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f21729f39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f21729f39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21729f398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f21729f398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f21729f398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f21729f398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38" name="Google Shape;438;p41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39" name="Google Shape;439;p4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40" name="Google Shape;440;p4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41" name="Google Shape;441;p4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" name="Google Shape;442;p4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43" name="Google Shape;443;p41"/>
          <p:cNvSpPr txBox="1"/>
          <p:nvPr>
            <p:ph type="title"/>
          </p:nvPr>
        </p:nvSpPr>
        <p:spPr>
          <a:xfrm>
            <a:off x="228600" y="457200"/>
            <a:ext cx="7664400" cy="11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800">
                <a:solidFill>
                  <a:schemeClr val="lt1"/>
                </a:solidFill>
              </a:rPr>
              <a:t>Scrum-Agile Methodology vs. </a:t>
            </a:r>
            <a:endParaRPr sz="3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800">
                <a:solidFill>
                  <a:schemeClr val="lt1"/>
                </a:solidFill>
              </a:rPr>
              <a:t>The Traditional Waterfall Approach</a:t>
            </a:r>
            <a:endParaRPr sz="3800">
              <a:solidFill>
                <a:schemeClr val="lt1"/>
              </a:solidFill>
            </a:endParaRPr>
          </a:p>
        </p:txBody>
      </p:sp>
      <p:sp>
        <p:nvSpPr>
          <p:cNvPr id="444" name="Google Shape;444;p41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Chada Tech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45" name="Google Shape;445;p4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CS-250</a:t>
            </a:r>
            <a:endParaRPr/>
          </a:p>
        </p:txBody>
      </p:sp>
      <p:sp>
        <p:nvSpPr>
          <p:cNvPr id="446" name="Google Shape;446;p4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Professor Washington</a:t>
            </a:r>
            <a:endParaRPr/>
          </a:p>
        </p:txBody>
      </p:sp>
      <p:sp>
        <p:nvSpPr>
          <p:cNvPr id="447" name="Google Shape;447;p4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6/21/2026</a:t>
            </a:r>
            <a:endParaRPr/>
          </a:p>
        </p:txBody>
      </p:sp>
      <p:sp>
        <p:nvSpPr>
          <p:cNvPr id="448" name="Google Shape;448;p41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 Scott</a:t>
            </a:r>
            <a:endParaRPr/>
          </a:p>
        </p:txBody>
      </p:sp>
      <p:sp>
        <p:nvSpPr>
          <p:cNvPr id="449" name="Google Shape;449;p41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June 21,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1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2"/>
          <p:cNvSpPr/>
          <p:nvPr/>
        </p:nvSpPr>
        <p:spPr>
          <a:xfrm>
            <a:off x="228600" y="956074"/>
            <a:ext cx="2101200" cy="34968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4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Girvan, 2022</a:t>
            </a:r>
            <a:endParaRPr/>
          </a:p>
        </p:txBody>
      </p:sp>
      <p:sp>
        <p:nvSpPr>
          <p:cNvPr id="457" name="Google Shape;457;p4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CS-250</a:t>
            </a:r>
            <a:endParaRPr/>
          </a:p>
        </p:txBody>
      </p:sp>
      <p:sp>
        <p:nvSpPr>
          <p:cNvPr id="458" name="Google Shape;458;p42"/>
          <p:cNvSpPr txBox="1"/>
          <p:nvPr>
            <p:ph idx="5" type="subTitle"/>
          </p:nvPr>
        </p:nvSpPr>
        <p:spPr>
          <a:xfrm>
            <a:off x="426700" y="1075130"/>
            <a:ext cx="1761900" cy="2160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Owner</a:t>
            </a:r>
            <a:endParaRPr/>
          </a:p>
        </p:txBody>
      </p:sp>
      <p:sp>
        <p:nvSpPr>
          <p:cNvPr id="459" name="Google Shape;459;p42"/>
          <p:cNvSpPr txBox="1"/>
          <p:nvPr>
            <p:ph idx="7" type="body"/>
          </p:nvPr>
        </p:nvSpPr>
        <p:spPr>
          <a:xfrm>
            <a:off x="426700" y="1377785"/>
            <a:ext cx="1761900" cy="271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for defining the requirements, expectations, and end goals of the product.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and prioritize requirements by organizing features into user stories.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 with customers, stakeholders, and the development team to refine and prioritize a product backlog.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market trends to maximize the success of the product and team.</a:t>
            </a:r>
            <a:endParaRPr/>
          </a:p>
        </p:txBody>
      </p:sp>
      <p:sp>
        <p:nvSpPr>
          <p:cNvPr id="460" name="Google Shape;460;p42"/>
          <p:cNvSpPr txBox="1"/>
          <p:nvPr>
            <p:ph idx="4294967295" type="title"/>
          </p:nvPr>
        </p:nvSpPr>
        <p:spPr>
          <a:xfrm>
            <a:off x="277500" y="117432"/>
            <a:ext cx="82086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on a Scrum-Agile Team</a:t>
            </a:r>
            <a:endParaRPr/>
          </a:p>
        </p:txBody>
      </p:sp>
      <p:sp>
        <p:nvSpPr>
          <p:cNvPr id="461" name="Google Shape;461;p42"/>
          <p:cNvSpPr/>
          <p:nvPr/>
        </p:nvSpPr>
        <p:spPr>
          <a:xfrm>
            <a:off x="2470800" y="959488"/>
            <a:ext cx="2101200" cy="34968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42"/>
          <p:cNvSpPr txBox="1"/>
          <p:nvPr>
            <p:ph idx="5" type="subTitle"/>
          </p:nvPr>
        </p:nvSpPr>
        <p:spPr>
          <a:xfrm>
            <a:off x="2668900" y="1078544"/>
            <a:ext cx="1761900" cy="2160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Master</a:t>
            </a:r>
            <a:endParaRPr/>
          </a:p>
        </p:txBody>
      </p:sp>
      <p:sp>
        <p:nvSpPr>
          <p:cNvPr id="463" name="Google Shape;463;p42"/>
          <p:cNvSpPr txBox="1"/>
          <p:nvPr>
            <p:ph idx="7" type="body"/>
          </p:nvPr>
        </p:nvSpPr>
        <p:spPr>
          <a:xfrm>
            <a:off x="2668900" y="1381200"/>
            <a:ext cx="1761900" cy="296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Enforces Scrum-Agile values and supports Agile principles across team.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Acts as a mentor and supervisor, providing support and resources for the development team.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Acts as the middle-man between upper management and the development team.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Conducts daily Scrum meetings and facilitates collaboration.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Measures progress against the backlog.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2"/>
          <p:cNvSpPr/>
          <p:nvPr/>
        </p:nvSpPr>
        <p:spPr>
          <a:xfrm>
            <a:off x="4713000" y="959488"/>
            <a:ext cx="2101200" cy="34968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42"/>
          <p:cNvSpPr txBox="1"/>
          <p:nvPr>
            <p:ph idx="5" type="subTitle"/>
          </p:nvPr>
        </p:nvSpPr>
        <p:spPr>
          <a:xfrm>
            <a:off x="4911100" y="1078544"/>
            <a:ext cx="1761900" cy="2160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</a:t>
            </a:r>
            <a:endParaRPr/>
          </a:p>
        </p:txBody>
      </p:sp>
      <p:sp>
        <p:nvSpPr>
          <p:cNvPr id="466" name="Google Shape;466;p42"/>
          <p:cNvSpPr txBox="1"/>
          <p:nvPr>
            <p:ph idx="7" type="body"/>
          </p:nvPr>
        </p:nvSpPr>
        <p:spPr>
          <a:xfrm>
            <a:off x="4911100" y="1381200"/>
            <a:ext cx="1761900" cy="296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toward achieving the sprint goals so that a working usable product is created by the 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Self-organizes and distributes tasks among team members based on strengths and goals.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Interprets and analyzes user stories into working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2"/>
          <p:cNvSpPr/>
          <p:nvPr/>
        </p:nvSpPr>
        <p:spPr>
          <a:xfrm>
            <a:off x="6955200" y="959488"/>
            <a:ext cx="2101200" cy="34968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8" name="Google Shape;468;p42"/>
          <p:cNvSpPr txBox="1"/>
          <p:nvPr>
            <p:ph idx="5" type="subTitle"/>
          </p:nvPr>
        </p:nvSpPr>
        <p:spPr>
          <a:xfrm>
            <a:off x="7153300" y="1078544"/>
            <a:ext cx="1761900" cy="2160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Tester</a:t>
            </a:r>
            <a:endParaRPr/>
          </a:p>
        </p:txBody>
      </p:sp>
      <p:sp>
        <p:nvSpPr>
          <p:cNvPr id="469" name="Google Shape;469;p42"/>
          <p:cNvSpPr txBox="1"/>
          <p:nvPr>
            <p:ph idx="7" type="body"/>
          </p:nvPr>
        </p:nvSpPr>
        <p:spPr>
          <a:xfrm>
            <a:off x="7153300" y="1381200"/>
            <a:ext cx="1761900" cy="296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Identifies success criteria from user stories and defines user expectations for the app.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Tests code and considers edge-cases and user error.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Validates requirements and end-goals are met by the development team.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3"/>
          <p:cNvSpPr/>
          <p:nvPr/>
        </p:nvSpPr>
        <p:spPr>
          <a:xfrm>
            <a:off x="1414436" y="1152349"/>
            <a:ext cx="2101200" cy="1499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75" name="Google Shape;475;p43"/>
          <p:cNvGrpSpPr/>
          <p:nvPr/>
        </p:nvGrpSpPr>
        <p:grpSpPr>
          <a:xfrm rot="-5400000">
            <a:off x="3190540" y="1294941"/>
            <a:ext cx="204654" cy="205433"/>
            <a:chOff x="259788" y="1923155"/>
            <a:chExt cx="409800" cy="409800"/>
          </a:xfrm>
        </p:grpSpPr>
        <p:sp>
          <p:nvSpPr>
            <p:cNvPr id="476" name="Google Shape;476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7" name="Google Shape;477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8" name="Google Shape;478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" name="Google Shape;479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80" name="Google Shape;480;p43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Neelu, 2022</a:t>
            </a:r>
            <a:endParaRPr/>
          </a:p>
        </p:txBody>
      </p:sp>
      <p:sp>
        <p:nvSpPr>
          <p:cNvPr id="481" name="Google Shape;481;p43"/>
          <p:cNvSpPr txBox="1"/>
          <p:nvPr>
            <p:ph idx="19" type="title"/>
          </p:nvPr>
        </p:nvSpPr>
        <p:spPr>
          <a:xfrm>
            <a:off x="300650" y="255475"/>
            <a:ext cx="3904500" cy="48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Agile Phases</a:t>
            </a:r>
            <a:endParaRPr sz="3000"/>
          </a:p>
        </p:txBody>
      </p:sp>
      <p:sp>
        <p:nvSpPr>
          <p:cNvPr id="482" name="Google Shape;482;p43"/>
          <p:cNvSpPr txBox="1"/>
          <p:nvPr>
            <p:ph type="title"/>
          </p:nvPr>
        </p:nvSpPr>
        <p:spPr>
          <a:xfrm>
            <a:off x="1541061" y="1344431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83" name="Google Shape;483;p43"/>
          <p:cNvSpPr txBox="1"/>
          <p:nvPr>
            <p:ph idx="5" type="subTitle"/>
          </p:nvPr>
        </p:nvSpPr>
        <p:spPr>
          <a:xfrm>
            <a:off x="1541061" y="1730781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</a:t>
            </a:r>
            <a:endParaRPr/>
          </a:p>
        </p:txBody>
      </p:sp>
      <p:sp>
        <p:nvSpPr>
          <p:cNvPr id="484" name="Google Shape;484;p43"/>
          <p:cNvSpPr txBox="1"/>
          <p:nvPr>
            <p:ph idx="6" type="body"/>
          </p:nvPr>
        </p:nvSpPr>
        <p:spPr>
          <a:xfrm>
            <a:off x="1541061" y="2033981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project goals and deliverables, estimate a timeline, create a product backlog.</a:t>
            </a:r>
            <a:endParaRPr/>
          </a:p>
        </p:txBody>
      </p:sp>
      <p:sp>
        <p:nvSpPr>
          <p:cNvPr id="485" name="Google Shape;485;p4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CS-250</a:t>
            </a:r>
            <a:endParaRPr/>
          </a:p>
        </p:txBody>
      </p:sp>
      <p:sp>
        <p:nvSpPr>
          <p:cNvPr id="486" name="Google Shape;486;p43"/>
          <p:cNvSpPr/>
          <p:nvPr/>
        </p:nvSpPr>
        <p:spPr>
          <a:xfrm>
            <a:off x="3609536" y="1166599"/>
            <a:ext cx="2101200" cy="1499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87" name="Google Shape;487;p43"/>
          <p:cNvGrpSpPr/>
          <p:nvPr/>
        </p:nvGrpSpPr>
        <p:grpSpPr>
          <a:xfrm rot="-5400000">
            <a:off x="5385640" y="1309191"/>
            <a:ext cx="204654" cy="205433"/>
            <a:chOff x="259788" y="1923155"/>
            <a:chExt cx="409800" cy="409800"/>
          </a:xfrm>
        </p:grpSpPr>
        <p:sp>
          <p:nvSpPr>
            <p:cNvPr id="488" name="Google Shape;488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9" name="Google Shape;489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90" name="Google Shape;490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1" name="Google Shape;491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92" name="Google Shape;492;p43"/>
          <p:cNvSpPr txBox="1"/>
          <p:nvPr>
            <p:ph type="title"/>
          </p:nvPr>
        </p:nvSpPr>
        <p:spPr>
          <a:xfrm>
            <a:off x="3736161" y="1358681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93" name="Google Shape;493;p43"/>
          <p:cNvSpPr txBox="1"/>
          <p:nvPr>
            <p:ph idx="5" type="subTitle"/>
          </p:nvPr>
        </p:nvSpPr>
        <p:spPr>
          <a:xfrm>
            <a:off x="3736161" y="1745031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</a:t>
            </a:r>
            <a:endParaRPr/>
          </a:p>
        </p:txBody>
      </p:sp>
      <p:sp>
        <p:nvSpPr>
          <p:cNvPr id="494" name="Google Shape;494;p43"/>
          <p:cNvSpPr txBox="1"/>
          <p:nvPr>
            <p:ph idx="6" type="body"/>
          </p:nvPr>
        </p:nvSpPr>
        <p:spPr>
          <a:xfrm>
            <a:off x="3736161" y="2048231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</a:t>
            </a:r>
            <a:r>
              <a:rPr lang="en"/>
              <a:t>backlog and user stories to design an architecture and plan for how it will be coded.</a:t>
            </a:r>
            <a:endParaRPr/>
          </a:p>
        </p:txBody>
      </p:sp>
      <p:sp>
        <p:nvSpPr>
          <p:cNvPr id="495" name="Google Shape;495;p43"/>
          <p:cNvSpPr/>
          <p:nvPr/>
        </p:nvSpPr>
        <p:spPr>
          <a:xfrm>
            <a:off x="5804611" y="1166599"/>
            <a:ext cx="2101200" cy="1499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96" name="Google Shape;496;p43"/>
          <p:cNvGrpSpPr/>
          <p:nvPr/>
        </p:nvGrpSpPr>
        <p:grpSpPr>
          <a:xfrm rot="-5400000">
            <a:off x="7580715" y="1309191"/>
            <a:ext cx="204654" cy="205433"/>
            <a:chOff x="259788" y="1923155"/>
            <a:chExt cx="409800" cy="409800"/>
          </a:xfrm>
        </p:grpSpPr>
        <p:sp>
          <p:nvSpPr>
            <p:cNvPr id="497" name="Google Shape;497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98" name="Google Shape;498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99" name="Google Shape;499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" name="Google Shape;500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01" name="Google Shape;501;p43"/>
          <p:cNvSpPr txBox="1"/>
          <p:nvPr>
            <p:ph type="title"/>
          </p:nvPr>
        </p:nvSpPr>
        <p:spPr>
          <a:xfrm>
            <a:off x="5931236" y="1358681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02" name="Google Shape;502;p43"/>
          <p:cNvSpPr txBox="1"/>
          <p:nvPr>
            <p:ph idx="5" type="subTitle"/>
          </p:nvPr>
        </p:nvSpPr>
        <p:spPr>
          <a:xfrm>
            <a:off x="5931236" y="1745031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Developing</a:t>
            </a:r>
            <a:endParaRPr/>
          </a:p>
        </p:txBody>
      </p:sp>
      <p:sp>
        <p:nvSpPr>
          <p:cNvPr id="503" name="Google Shape;503;p43"/>
          <p:cNvSpPr txBox="1"/>
          <p:nvPr>
            <p:ph idx="6" type="body"/>
          </p:nvPr>
        </p:nvSpPr>
        <p:spPr>
          <a:xfrm>
            <a:off x="5931236" y="2048231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Period where code is developed according to prioritized tasks.</a:t>
            </a:r>
            <a:endParaRPr/>
          </a:p>
        </p:txBody>
      </p:sp>
      <p:sp>
        <p:nvSpPr>
          <p:cNvPr id="504" name="Google Shape;504;p43"/>
          <p:cNvSpPr/>
          <p:nvPr/>
        </p:nvSpPr>
        <p:spPr>
          <a:xfrm>
            <a:off x="1421511" y="2749949"/>
            <a:ext cx="2101200" cy="1499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05" name="Google Shape;505;p43"/>
          <p:cNvGrpSpPr/>
          <p:nvPr/>
        </p:nvGrpSpPr>
        <p:grpSpPr>
          <a:xfrm rot="-5400000">
            <a:off x="3205026" y="2892541"/>
            <a:ext cx="204654" cy="205433"/>
            <a:chOff x="259788" y="1923155"/>
            <a:chExt cx="409800" cy="409800"/>
          </a:xfrm>
        </p:grpSpPr>
        <p:sp>
          <p:nvSpPr>
            <p:cNvPr id="506" name="Google Shape;506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7" name="Google Shape;507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08" name="Google Shape;508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9" name="Google Shape;509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10" name="Google Shape;510;p43"/>
          <p:cNvSpPr txBox="1"/>
          <p:nvPr>
            <p:ph type="title"/>
          </p:nvPr>
        </p:nvSpPr>
        <p:spPr>
          <a:xfrm>
            <a:off x="1548136" y="2942031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11" name="Google Shape;511;p43"/>
          <p:cNvSpPr txBox="1"/>
          <p:nvPr>
            <p:ph idx="5" type="subTitle"/>
          </p:nvPr>
        </p:nvSpPr>
        <p:spPr>
          <a:xfrm>
            <a:off x="1548136" y="3328381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512" name="Google Shape;512;p43"/>
          <p:cNvSpPr txBox="1"/>
          <p:nvPr>
            <p:ph idx="6" type="body"/>
          </p:nvPr>
        </p:nvSpPr>
        <p:spPr>
          <a:xfrm>
            <a:off x="1548136" y="3631581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 requirements, check edge-cases, test user experience, and ensure app works.</a:t>
            </a:r>
            <a:endParaRPr/>
          </a:p>
        </p:txBody>
      </p:sp>
      <p:sp>
        <p:nvSpPr>
          <p:cNvPr id="513" name="Google Shape;513;p43"/>
          <p:cNvSpPr/>
          <p:nvPr/>
        </p:nvSpPr>
        <p:spPr>
          <a:xfrm>
            <a:off x="3616611" y="2764199"/>
            <a:ext cx="2101200" cy="1499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14" name="Google Shape;514;p43"/>
          <p:cNvGrpSpPr/>
          <p:nvPr/>
        </p:nvGrpSpPr>
        <p:grpSpPr>
          <a:xfrm rot="-5400000">
            <a:off x="5400126" y="2906791"/>
            <a:ext cx="204654" cy="205433"/>
            <a:chOff x="259788" y="1923155"/>
            <a:chExt cx="409800" cy="409800"/>
          </a:xfrm>
        </p:grpSpPr>
        <p:sp>
          <p:nvSpPr>
            <p:cNvPr id="515" name="Google Shape;515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6" name="Google Shape;516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7" name="Google Shape;517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8" name="Google Shape;518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19" name="Google Shape;519;p43"/>
          <p:cNvSpPr txBox="1"/>
          <p:nvPr>
            <p:ph type="title"/>
          </p:nvPr>
        </p:nvSpPr>
        <p:spPr>
          <a:xfrm>
            <a:off x="3743236" y="2956281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20" name="Google Shape;520;p43"/>
          <p:cNvSpPr txBox="1"/>
          <p:nvPr>
            <p:ph idx="5" type="subTitle"/>
          </p:nvPr>
        </p:nvSpPr>
        <p:spPr>
          <a:xfrm>
            <a:off x="3743236" y="3342631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sp>
        <p:nvSpPr>
          <p:cNvPr id="521" name="Google Shape;521;p43"/>
          <p:cNvSpPr txBox="1"/>
          <p:nvPr>
            <p:ph idx="6" type="body"/>
          </p:nvPr>
        </p:nvSpPr>
        <p:spPr>
          <a:xfrm>
            <a:off x="3743236" y="3645831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a working product to the client, with all requirements complete.</a:t>
            </a:r>
            <a:endParaRPr/>
          </a:p>
        </p:txBody>
      </p:sp>
      <p:sp>
        <p:nvSpPr>
          <p:cNvPr id="522" name="Google Shape;522;p43"/>
          <p:cNvSpPr/>
          <p:nvPr/>
        </p:nvSpPr>
        <p:spPr>
          <a:xfrm>
            <a:off x="5811686" y="2764199"/>
            <a:ext cx="2101200" cy="1499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23" name="Google Shape;523;p43"/>
          <p:cNvGrpSpPr/>
          <p:nvPr/>
        </p:nvGrpSpPr>
        <p:grpSpPr>
          <a:xfrm rot="-5400000">
            <a:off x="7595201" y="2906791"/>
            <a:ext cx="204654" cy="205433"/>
            <a:chOff x="259788" y="1923155"/>
            <a:chExt cx="409800" cy="409800"/>
          </a:xfrm>
        </p:grpSpPr>
        <p:sp>
          <p:nvSpPr>
            <p:cNvPr id="524" name="Google Shape;524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5" name="Google Shape;525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6" name="Google Shape;526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" name="Google Shape;527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28" name="Google Shape;528;p43"/>
          <p:cNvSpPr txBox="1"/>
          <p:nvPr>
            <p:ph type="title"/>
          </p:nvPr>
        </p:nvSpPr>
        <p:spPr>
          <a:xfrm>
            <a:off x="5938311" y="2956281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529" name="Google Shape;529;p43"/>
          <p:cNvSpPr txBox="1"/>
          <p:nvPr>
            <p:ph idx="5" type="subTitle"/>
          </p:nvPr>
        </p:nvSpPr>
        <p:spPr>
          <a:xfrm>
            <a:off x="5938311" y="3342631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Reviewing</a:t>
            </a:r>
            <a:endParaRPr/>
          </a:p>
        </p:txBody>
      </p:sp>
      <p:sp>
        <p:nvSpPr>
          <p:cNvPr id="530" name="Google Shape;530;p43"/>
          <p:cNvSpPr txBox="1"/>
          <p:nvPr>
            <p:ph idx="6" type="body"/>
          </p:nvPr>
        </p:nvSpPr>
        <p:spPr>
          <a:xfrm>
            <a:off x="5938311" y="3645831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 and find ways to improve and become more efficient.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Al-Saqqa, 2020</a:t>
            </a:r>
            <a:endParaRPr/>
          </a:p>
        </p:txBody>
      </p:sp>
      <p:sp>
        <p:nvSpPr>
          <p:cNvPr id="536" name="Google Shape;536;p44"/>
          <p:cNvSpPr txBox="1"/>
          <p:nvPr>
            <p:ph idx="1" type="body"/>
          </p:nvPr>
        </p:nvSpPr>
        <p:spPr>
          <a:xfrm>
            <a:off x="228600" y="2961388"/>
            <a:ext cx="4296600" cy="1491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Product Backlog (Planning)</a:t>
            </a:r>
            <a:br>
              <a:rPr lang="en"/>
            </a:br>
            <a:r>
              <a:rPr lang="en"/>
              <a:t>User stories are defined and prioritized.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Sprint Planning (Designing)</a:t>
            </a:r>
            <a:br>
              <a:rPr lang="en"/>
            </a:br>
            <a:r>
              <a:rPr lang="en"/>
              <a:t>User stories are grouped and selected to be worked on for a sprint.</a:t>
            </a:r>
            <a:endParaRPr/>
          </a:p>
        </p:txBody>
      </p:sp>
      <p:sp>
        <p:nvSpPr>
          <p:cNvPr id="537" name="Google Shape;537;p4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CS-250</a:t>
            </a:r>
            <a:endParaRPr/>
          </a:p>
        </p:txBody>
      </p:sp>
      <p:sp>
        <p:nvSpPr>
          <p:cNvPr id="538" name="Google Shape;538;p44"/>
          <p:cNvSpPr/>
          <p:nvPr/>
        </p:nvSpPr>
        <p:spPr>
          <a:xfrm>
            <a:off x="214906" y="1474825"/>
            <a:ext cx="1282176" cy="933876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User Stories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9" name="Google Shape;539;p44"/>
          <p:cNvSpPr txBox="1"/>
          <p:nvPr/>
        </p:nvSpPr>
        <p:spPr>
          <a:xfrm>
            <a:off x="311281" y="1111700"/>
            <a:ext cx="1282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Product Backlog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40" name="Google Shape;540;p44"/>
          <p:cNvCxnSpPr/>
          <p:nvPr/>
        </p:nvCxnSpPr>
        <p:spPr>
          <a:xfrm>
            <a:off x="1615678" y="1786150"/>
            <a:ext cx="504000" cy="2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" name="Google Shape;541;p44"/>
          <p:cNvSpPr/>
          <p:nvPr/>
        </p:nvSpPr>
        <p:spPr>
          <a:xfrm>
            <a:off x="2238244" y="1400763"/>
            <a:ext cx="904176" cy="563382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User Story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2" name="Google Shape;542;p44"/>
          <p:cNvSpPr/>
          <p:nvPr/>
        </p:nvSpPr>
        <p:spPr>
          <a:xfrm>
            <a:off x="2238257" y="2008426"/>
            <a:ext cx="904176" cy="563382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User Story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3" name="Google Shape;543;p44"/>
          <p:cNvSpPr txBox="1"/>
          <p:nvPr/>
        </p:nvSpPr>
        <p:spPr>
          <a:xfrm>
            <a:off x="2049232" y="1067963"/>
            <a:ext cx="1282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Sprint Planning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4" name="Google Shape;544;p44"/>
          <p:cNvSpPr txBox="1"/>
          <p:nvPr>
            <p:ph type="title"/>
          </p:nvPr>
        </p:nvSpPr>
        <p:spPr>
          <a:xfrm>
            <a:off x="320625" y="228607"/>
            <a:ext cx="8208600" cy="50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Agile Lifecycle</a:t>
            </a:r>
            <a:endParaRPr sz="3000"/>
          </a:p>
        </p:txBody>
      </p:sp>
      <p:cxnSp>
        <p:nvCxnSpPr>
          <p:cNvPr id="545" name="Google Shape;545;p44"/>
          <p:cNvCxnSpPr/>
          <p:nvPr/>
        </p:nvCxnSpPr>
        <p:spPr>
          <a:xfrm>
            <a:off x="3312887" y="1786150"/>
            <a:ext cx="504000" cy="2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44"/>
          <p:cNvSpPr/>
          <p:nvPr/>
        </p:nvSpPr>
        <p:spPr>
          <a:xfrm>
            <a:off x="5113863" y="1472918"/>
            <a:ext cx="437400" cy="9339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7" name="Google Shape;547;p44"/>
          <p:cNvSpPr/>
          <p:nvPr/>
        </p:nvSpPr>
        <p:spPr>
          <a:xfrm rot="10800000">
            <a:off x="3961785" y="1426468"/>
            <a:ext cx="437400" cy="9339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8" name="Google Shape;548;p44"/>
          <p:cNvSpPr txBox="1"/>
          <p:nvPr/>
        </p:nvSpPr>
        <p:spPr>
          <a:xfrm>
            <a:off x="4124964" y="1639457"/>
            <a:ext cx="128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Sprint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(2-4 Weeks)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9" name="Google Shape;549;p44"/>
          <p:cNvSpPr/>
          <p:nvPr/>
        </p:nvSpPr>
        <p:spPr>
          <a:xfrm>
            <a:off x="4676587" y="918907"/>
            <a:ext cx="229800" cy="5634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0" name="Google Shape;550;p44"/>
          <p:cNvSpPr txBox="1"/>
          <p:nvPr/>
        </p:nvSpPr>
        <p:spPr>
          <a:xfrm>
            <a:off x="4779988" y="950145"/>
            <a:ext cx="1282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Daily Scrum Meeting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51" name="Google Shape;551;p44"/>
          <p:cNvCxnSpPr/>
          <p:nvPr/>
        </p:nvCxnSpPr>
        <p:spPr>
          <a:xfrm>
            <a:off x="5665286" y="1763950"/>
            <a:ext cx="504000" cy="2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2" name="Google Shape;552;p44"/>
          <p:cNvSpPr/>
          <p:nvPr/>
        </p:nvSpPr>
        <p:spPr>
          <a:xfrm>
            <a:off x="6283276" y="1519800"/>
            <a:ext cx="965025" cy="563400"/>
          </a:xfrm>
          <a:prstGeom prst="flowChartPredefined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Working Product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53" name="Google Shape;553;p44"/>
          <p:cNvCxnSpPr/>
          <p:nvPr/>
        </p:nvCxnSpPr>
        <p:spPr>
          <a:xfrm>
            <a:off x="7341848" y="1763950"/>
            <a:ext cx="504000" cy="2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4" name="Google Shape;554;p44"/>
          <p:cNvSpPr txBox="1"/>
          <p:nvPr/>
        </p:nvSpPr>
        <p:spPr>
          <a:xfrm>
            <a:off x="7765457" y="1564263"/>
            <a:ext cx="1282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Sprint Review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&amp; Retrospective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55" name="Google Shape;555;p44"/>
          <p:cNvCxnSpPr/>
          <p:nvPr/>
        </p:nvCxnSpPr>
        <p:spPr>
          <a:xfrm flipH="1">
            <a:off x="2942425" y="2257263"/>
            <a:ext cx="5684400" cy="588600"/>
          </a:xfrm>
          <a:prstGeom prst="curvedConnector3">
            <a:avLst>
              <a:gd fmla="val 3507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6" name="Google Shape;556;p44"/>
          <p:cNvSpPr txBox="1"/>
          <p:nvPr>
            <p:ph idx="1" type="body"/>
          </p:nvPr>
        </p:nvSpPr>
        <p:spPr>
          <a:xfrm>
            <a:off x="4617488" y="3106363"/>
            <a:ext cx="4296600" cy="1491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 startAt="3"/>
            </a:pPr>
            <a:r>
              <a:rPr lang="en"/>
              <a:t>Sprint &amp; Daily Scrum Meeting (Developing and Testing)</a:t>
            </a:r>
            <a:br>
              <a:rPr lang="en"/>
            </a:br>
            <a:r>
              <a:rPr lang="en"/>
              <a:t>Work toward achieving the current Sprint goal through constant collaboration and daily meetups.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 startAt="3"/>
            </a:pPr>
            <a:r>
              <a:rPr lang="en"/>
              <a:t>Working Product (Deployment)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 startAt="3"/>
            </a:pPr>
            <a:r>
              <a:rPr lang="en"/>
              <a:t>Sprint Review &amp; Retrospective (Reviewing)</a:t>
            </a:r>
            <a:br>
              <a:rPr lang="en"/>
            </a:br>
            <a:r>
              <a:rPr lang="en"/>
              <a:t>Reflect on the past Sprint, what went wrong and what went right. </a:t>
            </a:r>
            <a:endParaRPr/>
          </a:p>
        </p:txBody>
      </p:sp>
      <p:sp>
        <p:nvSpPr>
          <p:cNvPr id="557" name="Google Shape;557;p44"/>
          <p:cNvSpPr txBox="1"/>
          <p:nvPr/>
        </p:nvSpPr>
        <p:spPr>
          <a:xfrm>
            <a:off x="3977854" y="2356575"/>
            <a:ext cx="1687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Design, Build, Test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5"/>
          <p:cNvSpPr/>
          <p:nvPr/>
        </p:nvSpPr>
        <p:spPr>
          <a:xfrm>
            <a:off x="4618950" y="799261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3" name="Google Shape;563;p45"/>
          <p:cNvSpPr/>
          <p:nvPr/>
        </p:nvSpPr>
        <p:spPr>
          <a:xfrm>
            <a:off x="4618950" y="1477036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4" name="Google Shape;564;p45"/>
          <p:cNvSpPr/>
          <p:nvPr/>
        </p:nvSpPr>
        <p:spPr>
          <a:xfrm>
            <a:off x="4618950" y="2154836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5" name="Google Shape;565;p45"/>
          <p:cNvSpPr/>
          <p:nvPr/>
        </p:nvSpPr>
        <p:spPr>
          <a:xfrm>
            <a:off x="4618950" y="2832611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6" name="Google Shape;566;p45"/>
          <p:cNvSpPr/>
          <p:nvPr/>
        </p:nvSpPr>
        <p:spPr>
          <a:xfrm>
            <a:off x="4618950" y="3510411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67" name="Google Shape;567;p45"/>
          <p:cNvGrpSpPr/>
          <p:nvPr/>
        </p:nvGrpSpPr>
        <p:grpSpPr>
          <a:xfrm rot="-5400000">
            <a:off x="8556505" y="1001436"/>
            <a:ext cx="204654" cy="204654"/>
            <a:chOff x="259788" y="1923155"/>
            <a:chExt cx="409800" cy="409800"/>
          </a:xfrm>
        </p:grpSpPr>
        <p:sp>
          <p:nvSpPr>
            <p:cNvPr id="568" name="Google Shape;568;p4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69" name="Google Shape;569;p4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70" name="Google Shape;570;p4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1" name="Google Shape;571;p4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72" name="Google Shape;572;p45"/>
          <p:cNvGrpSpPr/>
          <p:nvPr/>
        </p:nvGrpSpPr>
        <p:grpSpPr>
          <a:xfrm rot="-5400000">
            <a:off x="8556505" y="1679221"/>
            <a:ext cx="204654" cy="204654"/>
            <a:chOff x="259788" y="1923155"/>
            <a:chExt cx="409800" cy="409800"/>
          </a:xfrm>
        </p:grpSpPr>
        <p:sp>
          <p:nvSpPr>
            <p:cNvPr id="573" name="Google Shape;573;p4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74" name="Google Shape;574;p4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75" name="Google Shape;575;p4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" name="Google Shape;576;p4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77" name="Google Shape;577;p45"/>
          <p:cNvGrpSpPr/>
          <p:nvPr/>
        </p:nvGrpSpPr>
        <p:grpSpPr>
          <a:xfrm rot="-5400000">
            <a:off x="8556505" y="2357006"/>
            <a:ext cx="204654" cy="204654"/>
            <a:chOff x="259788" y="1923155"/>
            <a:chExt cx="409800" cy="409800"/>
          </a:xfrm>
        </p:grpSpPr>
        <p:sp>
          <p:nvSpPr>
            <p:cNvPr id="578" name="Google Shape;578;p4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79" name="Google Shape;579;p4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80" name="Google Shape;580;p4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" name="Google Shape;581;p4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82" name="Google Shape;582;p45"/>
          <p:cNvGrpSpPr/>
          <p:nvPr/>
        </p:nvGrpSpPr>
        <p:grpSpPr>
          <a:xfrm rot="-5400000">
            <a:off x="8556505" y="3034791"/>
            <a:ext cx="204654" cy="204654"/>
            <a:chOff x="259788" y="1923155"/>
            <a:chExt cx="409800" cy="409800"/>
          </a:xfrm>
        </p:grpSpPr>
        <p:sp>
          <p:nvSpPr>
            <p:cNvPr id="583" name="Google Shape;583;p4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84" name="Google Shape;584;p4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85" name="Google Shape;585;p4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" name="Google Shape;586;p4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87" name="Google Shape;587;p45"/>
          <p:cNvGrpSpPr/>
          <p:nvPr/>
        </p:nvGrpSpPr>
        <p:grpSpPr>
          <a:xfrm rot="-5400000">
            <a:off x="8556505" y="3712576"/>
            <a:ext cx="204654" cy="204654"/>
            <a:chOff x="259788" y="1923155"/>
            <a:chExt cx="409800" cy="409800"/>
          </a:xfrm>
        </p:grpSpPr>
        <p:sp>
          <p:nvSpPr>
            <p:cNvPr id="588" name="Google Shape;588;p4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89" name="Google Shape;589;p4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90" name="Google Shape;590;p4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1" name="Google Shape;591;p4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92" name="Google Shape;592;p4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CS-250</a:t>
            </a:r>
            <a:endParaRPr/>
          </a:p>
        </p:txBody>
      </p:sp>
      <p:sp>
        <p:nvSpPr>
          <p:cNvPr id="593" name="Google Shape;593;p4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Wisidigama, 2024</a:t>
            </a:r>
            <a:endParaRPr/>
          </a:p>
        </p:txBody>
      </p:sp>
      <p:sp>
        <p:nvSpPr>
          <p:cNvPr id="594" name="Google Shape;594;p45"/>
          <p:cNvSpPr txBox="1"/>
          <p:nvPr>
            <p:ph type="title"/>
          </p:nvPr>
        </p:nvSpPr>
        <p:spPr>
          <a:xfrm>
            <a:off x="352050" y="214800"/>
            <a:ext cx="3904500" cy="48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Waterfall Phases</a:t>
            </a:r>
            <a:endParaRPr sz="3000"/>
          </a:p>
        </p:txBody>
      </p:sp>
      <p:sp>
        <p:nvSpPr>
          <p:cNvPr id="595" name="Google Shape;595;p45"/>
          <p:cNvSpPr txBox="1"/>
          <p:nvPr>
            <p:ph idx="4" type="subTitle"/>
          </p:nvPr>
        </p:nvSpPr>
        <p:spPr>
          <a:xfrm>
            <a:off x="4744575" y="95781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96" name="Google Shape;596;p45"/>
          <p:cNvSpPr txBox="1"/>
          <p:nvPr>
            <p:ph idx="5" type="subTitle"/>
          </p:nvPr>
        </p:nvSpPr>
        <p:spPr>
          <a:xfrm>
            <a:off x="4744575" y="1634749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97" name="Google Shape;597;p45"/>
          <p:cNvSpPr txBox="1"/>
          <p:nvPr>
            <p:ph idx="6" type="subTitle"/>
          </p:nvPr>
        </p:nvSpPr>
        <p:spPr>
          <a:xfrm>
            <a:off x="4744575" y="231168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98" name="Google Shape;598;p45"/>
          <p:cNvSpPr txBox="1"/>
          <p:nvPr>
            <p:ph idx="7" type="subTitle"/>
          </p:nvPr>
        </p:nvSpPr>
        <p:spPr>
          <a:xfrm>
            <a:off x="4744575" y="299296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99" name="Google Shape;599;p45"/>
          <p:cNvSpPr txBox="1"/>
          <p:nvPr>
            <p:ph idx="8" type="subTitle"/>
          </p:nvPr>
        </p:nvSpPr>
        <p:spPr>
          <a:xfrm>
            <a:off x="4744575" y="366726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00" name="Google Shape;600;p45"/>
          <p:cNvSpPr txBox="1"/>
          <p:nvPr>
            <p:ph idx="13" type="subTitle"/>
          </p:nvPr>
        </p:nvSpPr>
        <p:spPr>
          <a:xfrm>
            <a:off x="5067075" y="95781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Specification</a:t>
            </a:r>
            <a:endParaRPr/>
          </a:p>
        </p:txBody>
      </p:sp>
      <p:sp>
        <p:nvSpPr>
          <p:cNvPr id="601" name="Google Shape;601;p45"/>
          <p:cNvSpPr txBox="1"/>
          <p:nvPr>
            <p:ph idx="14" type="subTitle"/>
          </p:nvPr>
        </p:nvSpPr>
        <p:spPr>
          <a:xfrm>
            <a:off x="5067075" y="1634749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602" name="Google Shape;602;p45"/>
          <p:cNvSpPr txBox="1"/>
          <p:nvPr>
            <p:ph idx="15" type="subTitle"/>
          </p:nvPr>
        </p:nvSpPr>
        <p:spPr>
          <a:xfrm>
            <a:off x="5067075" y="231168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Development</a:t>
            </a:r>
            <a:endParaRPr/>
          </a:p>
        </p:txBody>
      </p:sp>
      <p:sp>
        <p:nvSpPr>
          <p:cNvPr id="603" name="Google Shape;603;p45"/>
          <p:cNvSpPr txBox="1"/>
          <p:nvPr>
            <p:ph idx="16" type="subTitle"/>
          </p:nvPr>
        </p:nvSpPr>
        <p:spPr>
          <a:xfrm>
            <a:off x="5067075" y="299296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604" name="Google Shape;604;p45"/>
          <p:cNvSpPr txBox="1"/>
          <p:nvPr>
            <p:ph idx="17" type="subTitle"/>
          </p:nvPr>
        </p:nvSpPr>
        <p:spPr>
          <a:xfrm>
            <a:off x="5067075" y="366726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Maintenance</a:t>
            </a:r>
            <a:endParaRPr/>
          </a:p>
        </p:txBody>
      </p:sp>
      <p:sp>
        <p:nvSpPr>
          <p:cNvPr id="605" name="Google Shape;605;p45"/>
          <p:cNvSpPr txBox="1"/>
          <p:nvPr>
            <p:ph idx="4294967295" type="body"/>
          </p:nvPr>
        </p:nvSpPr>
        <p:spPr>
          <a:xfrm>
            <a:off x="426600" y="679350"/>
            <a:ext cx="3755400" cy="3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similar at first glance, the traditional Waterfall cycle calls for a rigid structure, following each step exactly.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Agile Sprints happen over a short amount of time, careful time is spent at each step before moving on to the next.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our recent client, SNHU Travel, with an Agile approach, we were able to adapt quickly to customer and stakeholder expectations, since phases are flexible.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sudden changes were to happen under the Waterfall development cycle, it is difficult to be flexible since expectations were </a:t>
            </a:r>
            <a:r>
              <a:rPr lang="en"/>
              <a:t>already</a:t>
            </a:r>
            <a:r>
              <a:rPr lang="en"/>
              <a:t> defined previously.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The “slideshow” and “detox” requirements would not have been able to be implemented quickly if it were not previously defined during Phase 1.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6"/>
          <p:cNvSpPr/>
          <p:nvPr/>
        </p:nvSpPr>
        <p:spPr>
          <a:xfrm>
            <a:off x="3154650" y="228600"/>
            <a:ext cx="2834700" cy="4224000"/>
          </a:xfrm>
          <a:prstGeom prst="roundRect">
            <a:avLst>
              <a:gd fmla="val 87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1" name="Google Shape;611;p46"/>
          <p:cNvSpPr/>
          <p:nvPr/>
        </p:nvSpPr>
        <p:spPr>
          <a:xfrm>
            <a:off x="6080700" y="228600"/>
            <a:ext cx="2834700" cy="4224000"/>
          </a:xfrm>
          <a:prstGeom prst="roundRect">
            <a:avLst>
              <a:gd fmla="val 87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2" name="Google Shape;612;p46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Agile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13" name="Google Shape;613;p46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Choose if:</a:t>
            </a:r>
            <a:endParaRPr/>
          </a:p>
        </p:txBody>
      </p:sp>
      <p:sp>
        <p:nvSpPr>
          <p:cNvPr id="614" name="Google Shape;614;p46"/>
          <p:cNvSpPr txBox="1"/>
          <p:nvPr>
            <p:ph idx="2" type="subTitle"/>
          </p:nvPr>
        </p:nvSpPr>
        <p:spPr>
          <a:xfrm>
            <a:off x="3386700" y="1070875"/>
            <a:ext cx="2444700" cy="275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Requirements are not well-defined yet.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There is an expectation to be flexible with changing requirements and goals.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Teams that need cross-collaboration to be efficient.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High client involvement.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Small to medium scoped projects that can be easily broken into smaller, self-contained tasks.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Capable of receiving constant </a:t>
            </a:r>
            <a:r>
              <a:rPr lang="en">
                <a:solidFill>
                  <a:schemeClr val="lt1"/>
                </a:solidFill>
              </a:rPr>
              <a:t>feedback and input</a:t>
            </a:r>
            <a:r>
              <a:rPr lang="en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5" name="Google Shape;615;p46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Waterfall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16" name="Google Shape;616;p46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Choose if:</a:t>
            </a:r>
            <a:endParaRPr/>
          </a:p>
        </p:txBody>
      </p:sp>
      <p:sp>
        <p:nvSpPr>
          <p:cNvPr id="617" name="Google Shape;617;p46"/>
          <p:cNvSpPr txBox="1"/>
          <p:nvPr>
            <p:ph idx="5" type="subTitle"/>
          </p:nvPr>
        </p:nvSpPr>
        <p:spPr>
          <a:xfrm>
            <a:off x="6307650" y="1070875"/>
            <a:ext cx="2444700" cy="307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Product has well-defined requirements that is not expected to change.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Requirements are fixed and team members should be able to predict and expect what work will look like.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Contained teams that do not need to cross-collaborate across multiple teams.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Low client involvement.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Large projects that have a large amount of requirements and need careful planning.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8" name="Google Shape;618;p46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CS-250</a:t>
            </a:r>
            <a:endParaRPr/>
          </a:p>
        </p:txBody>
      </p:sp>
      <p:sp>
        <p:nvSpPr>
          <p:cNvPr id="619" name="Google Shape;619;p46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Fawareh, 2024</a:t>
            </a:r>
            <a:endParaRPr/>
          </a:p>
        </p:txBody>
      </p:sp>
      <p:sp>
        <p:nvSpPr>
          <p:cNvPr id="620" name="Google Shape;620;p46"/>
          <p:cNvSpPr txBox="1"/>
          <p:nvPr>
            <p:ph idx="3" type="title"/>
          </p:nvPr>
        </p:nvSpPr>
        <p:spPr>
          <a:xfrm>
            <a:off x="320625" y="228600"/>
            <a:ext cx="2362200" cy="1009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Waterfall or</a:t>
            </a:r>
            <a:br>
              <a:rPr lang="en" sz="3000">
                <a:solidFill>
                  <a:schemeClr val="lt1"/>
                </a:solidFill>
              </a:rPr>
            </a:br>
            <a:r>
              <a:rPr lang="en" sz="3000">
                <a:solidFill>
                  <a:schemeClr val="lt1"/>
                </a:solidFill>
              </a:rPr>
              <a:t>Agile?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621" name="Google Shape;621;p46"/>
          <p:cNvSpPr txBox="1"/>
          <p:nvPr>
            <p:ph idx="4294967295" type="body"/>
          </p:nvPr>
        </p:nvSpPr>
        <p:spPr>
          <a:xfrm>
            <a:off x="426600" y="1311825"/>
            <a:ext cx="2444700" cy="31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appropriate development cycle should be utilized by Chada Tech depending on what we will expect from the app and what it requires.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SNHU Travel had constant evolving requirements, and customer feedback. Agile is the better choice to go here due to its high flexibility.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Professor Washington</a:t>
            </a:r>
            <a:endParaRPr/>
          </a:p>
        </p:txBody>
      </p:sp>
      <p:sp>
        <p:nvSpPr>
          <p:cNvPr id="627" name="Google Shape;627;p4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6/21/2026</a:t>
            </a:r>
            <a:endParaRPr/>
          </a:p>
        </p:txBody>
      </p:sp>
      <p:sp>
        <p:nvSpPr>
          <p:cNvPr id="628" name="Google Shape;628;p47"/>
          <p:cNvSpPr txBox="1"/>
          <p:nvPr>
            <p:ph type="title"/>
          </p:nvPr>
        </p:nvSpPr>
        <p:spPr>
          <a:xfrm>
            <a:off x="228600" y="228600"/>
            <a:ext cx="3655800" cy="57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References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629" name="Google Shape;629;p47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7"/>
          <p:cNvSpPr txBox="1"/>
          <p:nvPr/>
        </p:nvSpPr>
        <p:spPr>
          <a:xfrm>
            <a:off x="228600" y="805800"/>
            <a:ext cx="8687100" cy="3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-381000" lvl="0" marL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Al-Saqqa, S., Sawalha, S., &amp; AbdelNabi, H. (2020). Agile Software Development: Methodologies and Trends. </a:t>
            </a:r>
            <a:r>
              <a:rPr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International Journal of Interactive Mobile Technologies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14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(11), 246–270. https://doi.org/10.3991/ijim.v14i11.13269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Fawareh, H., Al-Smadi, Y., Saadeh, R., Fawareh, F. A., Elrashidi, A., &amp; Al-Shdaifat, H. M. (2024). A Comparative Study between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Agile and Waterfall Methodologies during Software Development Process. </a:t>
            </a:r>
            <a:r>
              <a:rPr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2024 25th International Arab Conference on </a:t>
            </a:r>
            <a:endParaRPr i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Information Technology (ACIT), Information Technology (ACIT), 2024 25th International Arab Conference On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1–5.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https://doi.org/10.1109/ACIT62805.2024.10877239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Girvan Lynda, &amp; Girvan Simon. (2022). 7.8.1 The Scrum Roles. In </a:t>
            </a:r>
            <a:r>
              <a:rPr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Agile from First Principles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 BCS The Chartered Institute for IT.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Neelu, L., &amp; Kavitha, D. (2020). Software Development Technique for the Betterment of End User Satisfaction using Agile Methodology. </a:t>
            </a:r>
            <a:r>
              <a:rPr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TEM Journal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9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(3), 992–1002. https://doi.org/10.18421/TEM93-22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Wisidagama, N. S., &amp; Marikkar, F. (2024). Waterfall Model over Pcd.Uct Model Review. </a:t>
            </a:r>
            <a:r>
              <a:rPr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Automation of Technological &amp; Business</a:t>
            </a:r>
            <a:br>
              <a:rPr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Processes / Avtomatizaciâ Tehnologiceskih i Biznes-Processov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16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(3), 126–131. https://doi.org/10.15673/atbp.v16i3.2927 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1" name="Google Shape;631;p4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CS-250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